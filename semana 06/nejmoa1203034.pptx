
<file path=[Content_Types].xml><?xml version="1.0" encoding="utf-8"?>
<Types xmlns="http://schemas.openxmlformats.org/package/2006/content-types">
  <Default Extension="png" ContentType="image/png"/>
  <Default Extension="tiff" ContentType="image/tiff"/>
  <Default Extension="rels" ContentType="application/vnd.openxmlformats-package.relationships+xml"/>
  <Default Extension="xml" ContentType="application/xml"/>
  <Override PartName="/ppt/theme/theme2.xml" ContentType="application/vnd.openxmlformats-officedocument.theme+xml"/>
  <Override PartName="/ppt/theme/theme1.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strictFirstAndLastChars="0" saveSubsetFonts="1">
  <p:sldMasterIdLst>
    <p:sldMasterId id="2147483648" r:id="rId1"/>
  </p:sldMasterIdLst>
  <p:notesMasterIdLst>
    <p:notesMasterId r:id="rId10"/>
  </p:notesMasterIdLst>
  <p:sldIdLst>
    <p:sldId id="265" r:id="rId2"/>
    <p:sldId id="266" r:id="rId3"/>
    <p:sldId id="267" r:id="rId4"/>
    <p:sldId id="268" r:id="rId5"/>
    <p:sldId id="269" r:id="rId6"/>
    <p:sldId id="270" r:id="rId7"/>
    <p:sldId id="271" r:id="rId8"/>
    <p:sldId id="263" r:id="rId9"/>
  </p:sldIdLst>
  <p:sldSz cx="10080625" cy="7559675"/>
  <p:notesSz cx="7772400" cy="10058400"/>
  <p:defaultTextStyle>
    <a:defPPr>
      <a:defRPr lang="en-GB"/>
    </a:defPPr>
    <a:lvl1pPr algn="l" rtl="0" eaLnBrk="0" fontAlgn="base" hangingPunct="0">
      <a:spcBef>
        <a:spcPct val="0"/>
      </a:spcBef>
      <a:spcAft>
        <a:spcPct val="0"/>
      </a:spcAft>
      <a:defRPr sz="2400" kern="1200">
        <a:solidFill>
          <a:schemeClr val="tx1"/>
        </a:solidFill>
        <a:latin typeface="Times New Roman" pitchFamily="16"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6"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6"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6"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6" charset="0"/>
        <a:ea typeface="+mn-ea"/>
        <a:cs typeface="+mn-cs"/>
      </a:defRPr>
    </a:lvl5pPr>
    <a:lvl6pPr marL="2286000" algn="l" defTabSz="914400" rtl="0" eaLnBrk="1" latinLnBrk="0" hangingPunct="1">
      <a:defRPr sz="2400" kern="1200">
        <a:solidFill>
          <a:schemeClr val="tx1"/>
        </a:solidFill>
        <a:latin typeface="Times New Roman" pitchFamily="16" charset="0"/>
        <a:ea typeface="+mn-ea"/>
        <a:cs typeface="+mn-cs"/>
      </a:defRPr>
    </a:lvl6pPr>
    <a:lvl7pPr marL="2743200" algn="l" defTabSz="914400" rtl="0" eaLnBrk="1" latinLnBrk="0" hangingPunct="1">
      <a:defRPr sz="2400" kern="1200">
        <a:solidFill>
          <a:schemeClr val="tx1"/>
        </a:solidFill>
        <a:latin typeface="Times New Roman" pitchFamily="16" charset="0"/>
        <a:ea typeface="+mn-ea"/>
        <a:cs typeface="+mn-cs"/>
      </a:defRPr>
    </a:lvl7pPr>
    <a:lvl8pPr marL="3200400" algn="l" defTabSz="914400" rtl="0" eaLnBrk="1" latinLnBrk="0" hangingPunct="1">
      <a:defRPr sz="2400" kern="1200">
        <a:solidFill>
          <a:schemeClr val="tx1"/>
        </a:solidFill>
        <a:latin typeface="Times New Roman" pitchFamily="16" charset="0"/>
        <a:ea typeface="+mn-ea"/>
        <a:cs typeface="+mn-cs"/>
      </a:defRPr>
    </a:lvl8pPr>
    <a:lvl9pPr marL="3657600" algn="l" defTabSz="914400" rtl="0" eaLnBrk="1" latinLnBrk="0" hangingPunct="1">
      <a:defRPr sz="2400" kern="1200">
        <a:solidFill>
          <a:schemeClr val="tx1"/>
        </a:solidFill>
        <a:latin typeface="Times New Roman" pitchFamily="16"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432" autoAdjust="0"/>
  </p:normalViewPr>
  <p:slideViewPr>
    <p:cSldViewPr>
      <p:cViewPr varScale="1">
        <p:scale>
          <a:sx n="55" d="100"/>
          <a:sy n="55" d="100"/>
        </p:scale>
        <p:origin x="-1044" y="-78"/>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8028800" cy="78028800"/>
</p:viewPr>
</file>

<file path=ppt/_rels/presentation.xml.rels><Relationships xmlns="http://schemas.openxmlformats.org/package/2006/relationships"><Relationship Id="rId10" Type="http://schemas.openxmlformats.org/officeDocument/2006/relationships/notesMaster" Target="notesMasters/notesMaster1.xml"/><Relationship Id="rId14" Type="http://schemas.openxmlformats.org/officeDocument/2006/relationships/tableStyles" Target="tableStyles.xml"/><Relationship Id="rId1" Type="http://schemas.openxmlformats.org/officeDocument/2006/relationships/slideMaster" Target="slideMasters/slideMaster1.xml"/><Relationship Id="rId13" Type="http://schemas.openxmlformats.org/officeDocument/2006/relationships/theme" Target="theme/theme1.xml"/><Relationship Id="rId12" Type="http://schemas.openxmlformats.org/officeDocument/2006/relationships/viewProps" Target="viewProps.xml"/><Relationship Id="rId11" Type="http://schemas.openxmlformats.org/officeDocument/2006/relationships/presProps" Target="presProp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w="9525">
            <a:solidFill>
              <a:srgbClr val="000000"/>
            </a:solidFill>
            <a:miter lim="800000"/>
            <a:headEnd/>
            <a:tailEnd/>
          </a:ln>
          <a:effectLst/>
        </p:spPr>
      </p:sp>
      <p:sp>
        <p:nvSpPr>
          <p:cNvPr id="2050" name="Rectangle 2"/>
          <p:cNvSpPr txBox="1">
            <a:spLocks noGrp="1" noChangeArrowheads="1"/>
          </p:cNvSpPr>
          <p:nvPr>
            <p:ph type="body" idx="1"/>
          </p:nvPr>
        </p:nvSpPr>
        <p:spPr bwMode="auto">
          <a:xfrm>
            <a:off x="1185863" y="4787900"/>
            <a:ext cx="5407025" cy="38258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smtClean="0"/>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Relationships xmlns="http://schemas.openxmlformats.org/package/2006/relationships"><Relationship Id="rId1" Type="http://schemas.openxmlformats.org/officeDocument/2006/relationships/notesMaster" Target="../notesMasters/notesMaster1.xml"/><Relationship Id="rId3" Type="http://schemas.openxmlformats.org/officeDocument/2006/relationships/slide" Target="../slides/slide2.xml"/></Relationships>

</file>

<file path=ppt/notesSlides/_rels/notesSlide3.xml.rels><Relationships xmlns="http://schemas.openxmlformats.org/package/2006/relationships"><Relationship Id="rId1" Type="http://schemas.openxmlformats.org/officeDocument/2006/relationships/notesMaster" Target="../notesMasters/notesMaster1.xml"/><Relationship Id="rId4" Type="http://schemas.openxmlformats.org/officeDocument/2006/relationships/slide" Target="../slides/slide3.xml"/></Relationships>

</file>

<file path=ppt/notesSlides/_rels/notesSlide4.xml.rels><Relationships xmlns="http://schemas.openxmlformats.org/package/2006/relationships"><Relationship Id="rId1" Type="http://schemas.openxmlformats.org/officeDocument/2006/relationships/notesMaster" Target="../notesMasters/notesMaster1.xml"/><Relationship Id="rId5" Type="http://schemas.openxmlformats.org/officeDocument/2006/relationships/slide" Target="../slides/slide4.xml"/></Relationships>

</file>

<file path=ppt/notesSlides/_rels/notesSlide5.xml.rels><Relationships xmlns="http://schemas.openxmlformats.org/package/2006/relationships"><Relationship Id="rId1" Type="http://schemas.openxmlformats.org/officeDocument/2006/relationships/notesMaster" Target="../notesMasters/notesMaster1.xml"/><Relationship Id="rId6" Type="http://schemas.openxmlformats.org/officeDocument/2006/relationships/slide" Target="../slides/slide5.xml"/></Relationships>

</file>

<file path=ppt/notesSlides/_rels/notesSlide6.xml.rels><Relationships xmlns="http://schemas.openxmlformats.org/package/2006/relationships"><Relationship Id="rId1" Type="http://schemas.openxmlformats.org/officeDocument/2006/relationships/notesMaster" Target="../notesMasters/notesMaster1.xml"/><Relationship Id="rId7" Type="http://schemas.openxmlformats.org/officeDocument/2006/relationships/slide" Target="../slides/slide6.xml"/></Relationships>

</file>

<file path=ppt/notesSlides/_rels/notesSlide7.xml.rels><Relationships xmlns="http://schemas.openxmlformats.org/package/2006/relationships"><Relationship Id="rId1" Type="http://schemas.openxmlformats.org/officeDocument/2006/relationships/notesMaster" Target="../notesMasters/notesMaster1.xml"/><Relationship Id="rId8" Type="http://schemas.openxmlformats.org/officeDocument/2006/relationships/slide" Target="../slides/slide7.xml"/></Relationships>

</file>

<file path=ppt/notesSlides/_rels/notesSlide8.xml.rels><Relationships xmlns="http://schemas.openxmlformats.org/package/2006/relationships"><Relationship Id="rId1" Type="http://schemas.openxmlformats.org/officeDocument/2006/relationships/notesMaster" Target="../notesMasters/notesMaster1.xml"/><Relationship Id="rId9"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1266" name="Rectangle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wrap="none" anchor="ct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89"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2290" name="Rectangle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wrap="none" anchor="ctr"/>
          <a:lstStyle/>
          <a:p>
            <a:endParaRPr lang="en-US" dirty="0"/>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Figure 1 Screening, Randomization, and Follow-up of the Study Participants. A total of 164 children stopped consuming the study beverages. Measurements in 136 of these children (79 children in the sugar-free group and 57 in the sugar group) were available at 18 months. Thus, measurements in 28 children who did not complete the study (15 children in the sugar-free group and 13 in the sugar group) were not available at 18 months. We randomly assigned 641 children, not 642, as previously reported,20 since after unblinding, one child whom we believed to have undergone randomization20 had not undergone randomization.</a:t>
            </a:r>
            <a:endParaRPr lang="en-GB" dirty="0">
              <a:latin typeface="Arial" charset="0"/>
              <a:ea typeface="Gothic" charset="0"/>
              <a:cs typeface="Gothic" charset="0"/>
            </a:endParaRP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Figure 2 Urinary Sucralose Concentrations. The sucralose concentration was determined in spot urine samples by means of liquid chromatography with mass spectrometry.21 Samples were obtained from randomly selected children who completed the study. We assigned a value of 0.01 to samples below the detection limit of 0.02 mg per liter. The upper and lower ends of the boxes indicate the 25th and 75th quartiles, the black dots means, the horizontal lines within the boxes medians, the upper whisker the maximum value, and the lower whisker the minimum value. Values for the sugar-free group are based on samples obtained from 116 children at 6 months and from 117 children at 12 and 18 months. Mean (±SD) urinary sucralose concentrations were 6.3±3.7 mg per liter at 6 months, 6.6±4.5 mg per liter at 12 months, and 7.0±5.6 mg per liter at 18 months; sucralose was undetectable in 3% of samples at 6 months, 8% of samples at 12 months, and 10% of samples at 18 months. Values for the sugar group are based on samples obtained from 54 children at 6 months and 36 children at 12 and 18 months. Mean values were 0.04±0.13 mg per liter at 6 months, 0.03±0.14 mg per liter at 12 months, and 0.31±0.56 mg per liter at 18 months; sucralose was undetectable in 93% of samples at 6 months, 97% of samples at 12 months, and 67% of samples at 18 months. We also pooled 543 samples from participants at baseline to produce 20 pools. The mean sucralose concentration in these samples was 0.06±0.07 mg per liter.</a:t>
            </a:r>
            <a:endParaRPr lang="en-GB" dirty="0">
              <a:latin typeface="Arial" charset="0"/>
              <a:ea typeface="Gothic" charset="0"/>
              <a:cs typeface="Gothic" charset="0"/>
            </a:endParaRP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Figure 3 Body-Mass Index (BMI) z Score in the 477 Children Who Drank the Study Beverages for the Full 18 Months. The z score for BMI is the BMI expressed as the number of standard deviations by which a child differed from the mean in the Netherlands for his or her age and sex. Panel A shows mean z scores for the two study groups over the 18-month study period. Panel B shows the between-group difference in the mean change from baseline (the mean change in the BMI z score in the sugar-free group minus the mean change in the sugar group), as a function of time. T bars in both panels indicate standard errors.</a:t>
            </a:r>
            <a:endParaRPr lang="en-GB" dirty="0">
              <a:latin typeface="Arial" charset="0"/>
              <a:ea typeface="Gothic" charset="0"/>
              <a:cs typeface="Gothic" charset="0"/>
            </a:endParaRP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Table 1 Baseline Characteristics of the Study Participants.</a:t>
            </a:r>
            <a:endParaRPr lang="en-GB" dirty="0">
              <a:latin typeface="Arial" charset="0"/>
              <a:ea typeface="Gothic" charset="0"/>
              <a:cs typeface="Gothic" charset="0"/>
            </a:endParaRP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Table 2 Primary and Secondary Outcomes in the Full Cohort, with Imputed Data for Children Who Did Not Complete the Study, and in the Cohort of Children Who Completed the Study.</a:t>
            </a:r>
            <a:endParaRPr lang="en-GB" dirty="0">
              <a:latin typeface="Arial" charset="0"/>
              <a:ea typeface="Gothic" charset="0"/>
              <a:cs typeface="Gothic"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8434" name="Rectangle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wrap="none" anchor="ctr"/>
          <a:lstStyle/>
          <a:p>
            <a:endParaRPr lang="en-US" dirty="0"/>
          </a:p>
        </p:txBody>
      </p:sp>
    </p:spTree>
  </p:cSld>
  <p:clrMapOvr>
    <a:masterClrMapping/>
  </p:clrMapOvr>
</p:notes>
</file>

<file path=ppt/slideLayouts/_rels/slideLayout1.xml.rels><Relationships xmlns="http://schemas.openxmlformats.org/package/2006/relationships"><Relationship Id="rId1" Type="http://schemas.openxmlformats.org/officeDocument/2006/relationships/slideMaster" Target="../slideMasters/slideMaster1.xml"/></Relationships>
</file>

<file path=ppt/slideLayouts/_rels/slideLayout2.xml.rels><Relationships xmlns="http://schemas.openxmlformats.org/package/2006/relationships"><Relationship Id="rId1" Type="http://schemas.openxmlformats.org/officeDocument/2006/relationships/slideMaster" Target="../slideMasters/slideMaster1.xml"/></Relationships>
</file>

<file path=ppt/slideLayouts/_rels/slideLayout3.xml.rels><Relationships xmlns="http://schemas.openxmlformats.org/package/2006/relationships"><Relationship Id="rId1" Type="http://schemas.openxmlformats.org/officeDocument/2006/relationships/slideMaster" Target="../slideMasters/slideMaster1.xml"/></Relationships>
</file>

<file path=ppt/slideLayouts/_rels/slideLayout4.xml.rels><Relationships xmlns="http://schemas.openxmlformats.org/package/2006/relationships"><Relationship Id="rId1" Type="http://schemas.openxmlformats.org/officeDocument/2006/relationships/slideMaster" Target="../slideMasters/slideMaster1.xml"/></Relationships>
</file>

<file path=ppt/slideLayouts/_rels/slideLayout5.xml.rels><Relationships xmlns="http://schemas.openxmlformats.org/package/2006/relationships"><Relationship Id="rId1" Type="http://schemas.openxmlformats.org/officeDocument/2006/relationships/slideMaster" Target="../slideMasters/slideMaster1.xml"/></Relationships>
</file>

<file path=ppt/slideLayouts/_rels/slideLayout6.xml.rels><Relationships xmlns="http://schemas.openxmlformats.org/package/2006/relationships"><Relationship Id="rId1" Type="http://schemas.openxmlformats.org/officeDocument/2006/relationships/slideMaster" Target="../slideMasters/slideMaster1.xml"/></Relationships>
</file>

<file path=ppt/slideLayouts/_rels/slideLayout7.xml.rels><Relationships xmlns="http://schemas.openxmlformats.org/package/2006/relationships"><Relationship Id="rId1" Type="http://schemas.openxmlformats.org/officeDocument/2006/relationships/slideMaster" Target="../slideMasters/slideMaster1.xml"/></Relationships>
</file>

<file path=ppt/slideLayouts/_rels/slideLayout8.xml.rels><Relationships xmlns="http://schemas.openxmlformats.org/package/2006/relationships"><Relationship Id="rId1" Type="http://schemas.openxmlformats.org/officeDocument/2006/relationships/slideMaster" Target="../slideMasters/slideMaster1.xml"/></Relationships>
</file>

<file path=ppt/slideLayouts/_rels/slideLayout9.xml.rels><Relationships xmlns="http://schemas.openxmlformats.org/package/2006/relationships"><Relationship Id="rId1" Type="http://schemas.openxmlformats.org/officeDocument/2006/relationships/slideMaster" Target="../slideMasters/slideMaster1.xml"/></Relationships>
</file>

<file path=ppt/slideLayouts/_rels/slideLayout10.xml.rels><Relationships xmlns="http://schemas.openxmlformats.org/package/2006/relationships"><Relationship Id="rId1" Type="http://schemas.openxmlformats.org/officeDocument/2006/relationships/slideMaster" Target="../slideMasters/slideMaster1.xml"/></Relationships>
</file>

<file path=ppt/slideLayouts/_rels/slideLayout11.xml.rel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39775" y="2101850"/>
            <a:ext cx="4225925" cy="4760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18100" y="2101850"/>
            <a:ext cx="4227513" cy="4760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4550" y="627063"/>
            <a:ext cx="2151063" cy="6235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39775" y="627063"/>
            <a:ext cx="6302375" cy="6235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title"/>
          </p:nvPr>
        </p:nvSpPr>
        <p:spPr bwMode="auto">
          <a:xfrm>
            <a:off x="739775" y="627063"/>
            <a:ext cx="8605838" cy="1260475"/>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p>
            <a:pPr lvl="0"/>
            <a:r>
              <a:rPr lang="en-GB" smtClean="0"/>
              <a:t>Click to edit the title text format</a:t>
            </a:r>
          </a:p>
        </p:txBody>
      </p:sp>
      <p:sp>
        <p:nvSpPr>
          <p:cNvPr id="1026" name="Rectangle 2"/>
          <p:cNvSpPr>
            <a:spLocks noGrp="1" noChangeArrowheads="1"/>
          </p:cNvSpPr>
          <p:nvPr>
            <p:ph type="body" idx="1"/>
          </p:nvPr>
        </p:nvSpPr>
        <p:spPr bwMode="auto">
          <a:xfrm>
            <a:off x="739775" y="2101850"/>
            <a:ext cx="8605838" cy="47609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a:p>
            <a:pPr lvl="4"/>
            <a:r>
              <a:rPr lang="en-GB" smtClean="0"/>
              <a:t>Eighth Outline Level</a:t>
            </a:r>
          </a:p>
          <a:p>
            <a:pPr lvl="4"/>
            <a:r>
              <a:rPr lang="en-GB" smtClean="0"/>
              <a:t>Ninth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fontAlgn="base" hangingPunct="0">
        <a:lnSpc>
          <a:spcPct val="97000"/>
        </a:lnSpc>
        <a:spcBef>
          <a:spcPct val="0"/>
        </a:spcBef>
        <a:spcAft>
          <a:spcPct val="0"/>
        </a:spcAft>
        <a:buClr>
          <a:srgbClr val="FFFFFF"/>
        </a:buClr>
        <a:buSzPct val="45000"/>
        <a:buFont typeface="StarSymbol" charset="0"/>
        <a:defRPr sz="2800" b="1">
          <a:solidFill>
            <a:srgbClr val="FFFFFF"/>
          </a:solidFill>
          <a:latin typeface="+mj-lt"/>
          <a:ea typeface="+mj-ea"/>
          <a:cs typeface="+mj-cs"/>
        </a:defRPr>
      </a:lvl1pPr>
      <a:lvl2pPr marL="4318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2pPr>
      <a:lvl3pPr marL="6477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3pPr>
      <a:lvl4pPr marL="8636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4pPr>
      <a:lvl5pPr marL="10795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5pPr>
      <a:lvl6pPr marL="15367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6pPr>
      <a:lvl7pPr marL="19939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7pPr>
      <a:lvl8pPr marL="24511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8pPr>
      <a:lvl9pPr marL="29083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9pPr>
    </p:titleStyle>
    <p:bodyStyle>
      <a:lvl1pPr marL="431800" indent="-323850" algn="l" defTabSz="457200" rtl="0" fontAlgn="base" hangingPunct="0">
        <a:lnSpc>
          <a:spcPct val="97000"/>
        </a:lnSpc>
        <a:spcBef>
          <a:spcPct val="0"/>
        </a:spcBef>
        <a:spcAft>
          <a:spcPts val="888"/>
        </a:spcAft>
        <a:buClr>
          <a:srgbClr val="FFFFFF"/>
        </a:buClr>
        <a:buSzPct val="100000"/>
        <a:buFont typeface="Arial" charset="0"/>
        <a:buChar char="•"/>
        <a:defRPr sz="2000">
          <a:solidFill>
            <a:srgbClr val="FFFFFF"/>
          </a:solidFill>
          <a:latin typeface="+mn-lt"/>
          <a:ea typeface="+mn-ea"/>
          <a:cs typeface="+mn-cs"/>
        </a:defRPr>
      </a:lvl1pPr>
      <a:lvl2pPr marL="863600" indent="-287338" algn="l" defTabSz="457200" rtl="0" fontAlgn="base" hangingPunct="0">
        <a:lnSpc>
          <a:spcPct val="97000"/>
        </a:lnSpc>
        <a:spcBef>
          <a:spcPct val="0"/>
        </a:spcBef>
        <a:spcAft>
          <a:spcPts val="1138"/>
        </a:spcAft>
        <a:buClr>
          <a:srgbClr val="FFFFFF"/>
        </a:buClr>
        <a:buSzPct val="75000"/>
        <a:buFont typeface="StarSymbol" charset="0"/>
        <a:buChar char="–"/>
        <a:defRPr sz="2600">
          <a:solidFill>
            <a:srgbClr val="FFFFFF"/>
          </a:solidFill>
          <a:latin typeface="+mn-lt"/>
          <a:ea typeface="+mn-ea"/>
          <a:cs typeface="+mn-cs"/>
        </a:defRPr>
      </a:lvl2pPr>
      <a:lvl3pPr marL="1295400" indent="-215900" algn="l" defTabSz="457200" rtl="0" fontAlgn="base" hangingPunct="0">
        <a:lnSpc>
          <a:spcPct val="97000"/>
        </a:lnSpc>
        <a:spcBef>
          <a:spcPct val="0"/>
        </a:spcBef>
        <a:spcAft>
          <a:spcPts val="850"/>
        </a:spcAft>
        <a:buClr>
          <a:srgbClr val="FFFFFF"/>
        </a:buClr>
        <a:buSzPct val="45000"/>
        <a:buFont typeface="StarSymbol" charset="0"/>
        <a:buChar char="●"/>
        <a:defRPr sz="2400">
          <a:solidFill>
            <a:srgbClr val="FFFFFF"/>
          </a:solidFill>
          <a:latin typeface="+mn-lt"/>
          <a:ea typeface="+mn-ea"/>
          <a:cs typeface="+mn-cs"/>
        </a:defRPr>
      </a:lvl3pPr>
      <a:lvl4pPr marL="1727200" indent="-215900" algn="l" defTabSz="457200" rtl="0" fontAlgn="base" hangingPunct="0">
        <a:lnSpc>
          <a:spcPct val="97000"/>
        </a:lnSpc>
        <a:spcBef>
          <a:spcPct val="0"/>
        </a:spcBef>
        <a:spcAft>
          <a:spcPts val="575"/>
        </a:spcAft>
        <a:buClr>
          <a:srgbClr val="FFFFFF"/>
        </a:buClr>
        <a:buSzPct val="75000"/>
        <a:buFont typeface="StarSymbol" charset="0"/>
        <a:buChar char="–"/>
        <a:defRPr sz="2000">
          <a:solidFill>
            <a:srgbClr val="FFFFFF"/>
          </a:solidFill>
          <a:latin typeface="+mn-lt"/>
          <a:ea typeface="+mn-ea"/>
          <a:cs typeface="+mn-cs"/>
        </a:defRPr>
      </a:lvl4pPr>
      <a:lvl5pPr marL="21590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5pPr>
      <a:lvl6pPr marL="26162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6pPr>
      <a:lvl7pPr marL="30734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7pPr>
      <a:lvl8pPr marL="35306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8pPr>
      <a:lvl9pPr marL="39878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Relationships xmlns="http://schemas.openxmlformats.org/package/2006/relationships"><Relationship Id="rId3"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tiff"/><Relationship Id="rId7" Type="http://schemas.openxmlformats.org/officeDocument/2006/relationships/notesSlide" Target="../notesSlides/notesSlide3.xml"/></Relationships>

</file>

<file path=ppt/slides/_rels/slide4.xml.rels><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6.tiff"/><Relationship Id="rId8" Type="http://schemas.openxmlformats.org/officeDocument/2006/relationships/notesSlide" Target="../notesSlides/notesSlide4.xml"/></Relationships>

</file>

<file path=ppt/slides/_rels/slide5.xml.rels><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tiff"/><Relationship Id="rId9" Type="http://schemas.openxmlformats.org/officeDocument/2006/relationships/notesSlide" Target="../notesSlides/notesSlide5.xml"/></Relationships>

</file>

<file path=ppt/slides/_rels/slide6.xml.rels><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0.tiff"/><Relationship Id="rId10" Type="http://schemas.openxmlformats.org/officeDocument/2006/relationships/notesSlide" Target="../notesSlides/notesSlide6.xml"/></Relationships>

</file>

<file path=ppt/slides/_rels/slide7.xml.rels><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2.tiff"/><Relationship Id="rId11" Type="http://schemas.openxmlformats.org/officeDocument/2006/relationships/notesSlide" Target="../notesSlides/notesSlide7.xml"/></Relationships>

</file>

<file path=ppt/slides/_rels/slide8.xml.rels><Relationships xmlns="http://schemas.openxmlformats.org/package/2006/relationships"><Relationship Id="rId3" Type="http://schemas.openxmlformats.org/officeDocument/2006/relationships/image" Target="../media/image13.png"/><Relationship Id="rId1" Type="http://schemas.openxmlformats.org/officeDocument/2006/relationships/slideLayout" Target="../slideLayouts/slideLayout2.xml"/><Relationship Id="rId12" Type="http://schemas.openxmlformats.org/officeDocument/2006/relationships/notesSlide" Target="../notesSlides/notesSlide8.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073" name="Text Box 1"/>
          <p:cNvSpPr txBox="1">
            <a:spLocks noChangeArrowheads="1"/>
          </p:cNvSpPr>
          <p:nvPr/>
        </p:nvSpPr>
        <p:spPr bwMode="auto">
          <a:xfrm>
            <a:off x="739775" y="631825"/>
            <a:ext cx="8604250" cy="1262063"/>
          </a:xfrm>
          <a:prstGeom prst="rect">
            <a:avLst/>
          </a:prstGeom>
          <a:noFill/>
          <a:ln w="9525">
            <a:noFill/>
            <a:miter lim="800000"/>
            <a:headEnd/>
            <a:tailEnd/>
          </a:ln>
        </p:spPr>
        <p:txBody>
          <a:bodyPr lIns="0" tIns="0" rIns="0" bIns="0"/>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b="1" dirty="0" smtClean="0">
                <a:solidFill>
                  <a:srgbClr val="FF0000"/>
                </a:solidFill>
                <a:latin typeface="Arial" charset="0"/>
              </a:rPr>
              <a:t>Original Article</a:t>
            </a:r>
            <a:r>
              <a:rPr lang="en-GB" sz="2800" b="1" dirty="0" smtClean="0">
                <a:solidFill>
                  <a:srgbClr val="FFFFFF"/>
                </a:solidFill>
                <a:latin typeface="Arial" charset="0"/>
              </a:rPr>
              <a:t> </a:t>
            </a:r>
            <a:br>
              <a:rPr lang="en-GB" sz="2800" b="1" dirty="0">
                <a:solidFill>
                  <a:srgbClr val="FFFFFF"/>
                </a:solidFill>
                <a:latin typeface="Arial" charset="0"/>
              </a:rPr>
            </a:br>
            <a:r>
              <a:rPr lang="en-GB" sz="2800" b="1" dirty="0" smtClean="0">
                <a:solidFill>
                  <a:srgbClr val="FFFFFF"/>
                </a:solidFill>
                <a:latin typeface="Arial" charset="0"/>
              </a:rPr>
              <a:t>A Trial of Sugar-free or Sugar-Sweetened Beverages and Body Weight in Children</a:t>
            </a:r>
            <a:endParaRPr lang="en-GB" sz="2800" b="1" dirty="0">
              <a:solidFill>
                <a:srgbClr val="FFFFFF"/>
              </a:solidFill>
              <a:latin typeface="Arial" charset="0"/>
            </a:endParaRPr>
          </a:p>
        </p:txBody>
      </p:sp>
      <p:sp>
        <p:nvSpPr>
          <p:cNvPr id="3074" name="Text Box 2"/>
          <p:cNvSpPr txBox="1">
            <a:spLocks noChangeArrowheads="1"/>
          </p:cNvSpPr>
          <p:nvPr/>
        </p:nvSpPr>
        <p:spPr bwMode="auto">
          <a:xfrm>
            <a:off x="739775" y="2259013"/>
            <a:ext cx="8604250" cy="3021012"/>
          </a:xfrm>
          <a:prstGeom prst="rect">
            <a:avLst/>
          </a:prstGeom>
          <a:noFill/>
          <a:ln w="9525">
            <a:noFill/>
            <a:miter lim="800000"/>
            <a:headEnd/>
            <a:tailEnd/>
          </a:ln>
        </p:spPr>
        <p:txBody>
          <a:bodyPr lIns="0" tIns="0" rIns="0" bIns="0"/>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err="1" smtClean="0">
                <a:solidFill>
                  <a:srgbClr val="FFFFFF"/>
                </a:solidFill>
                <a:latin typeface="Arial" charset="0"/>
              </a:rPr>
              <a:t>Janne C. de Ruyter, M.Sc., Margreet R. Olthof, Ph.D., Jacob C. Seidell, Ph.D., and Martijn B. Katan, Ph.D.</a:t>
            </a:r>
            <a:endParaRPr lang="en-GB" sz="1800" dirty="0">
              <a:solidFill>
                <a:srgbClr val="FFFFFF"/>
              </a:solidFill>
              <a:latin typeface="Arial" charset="0"/>
            </a:endParaRPr>
          </a:p>
        </p:txBody>
      </p:sp>
      <p:sp>
        <p:nvSpPr>
          <p:cNvPr id="3075" name="Text Box 3"/>
          <p:cNvSpPr txBox="1">
            <a:spLocks noChangeArrowheads="1"/>
          </p:cNvSpPr>
          <p:nvPr/>
        </p:nvSpPr>
        <p:spPr bwMode="auto">
          <a:xfrm>
            <a:off x="738188" y="5641975"/>
            <a:ext cx="8604250" cy="268663"/>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smtClean="0">
                <a:solidFill>
                  <a:srgbClr val="FFFFFF"/>
                </a:solidFill>
                <a:latin typeface="Arial" charset="0"/>
              </a:rPr>
              <a:t>N Engl J Med</a:t>
            </a:r>
            <a:endParaRPr lang="en-GB" sz="1800" dirty="0">
              <a:solidFill>
                <a:srgbClr val="FFFFFF"/>
              </a:solidFill>
              <a:latin typeface="Arial" charset="0"/>
            </a:endParaRPr>
          </a:p>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smtClean="0">
                <a:solidFill>
                  <a:srgbClr val="FFFFFF"/>
                </a:solidFill>
                <a:latin typeface="Arial" charset="0"/>
              </a:rPr>
              <a:t>Volume 367(15):1397-1406</a:t>
            </a:r>
            <a:endParaRPr lang="en-GB" sz="1800" dirty="0">
              <a:solidFill>
                <a:srgbClr val="FFFFFF"/>
              </a:solidFill>
              <a:latin typeface="Arial" charset="0"/>
            </a:endParaRPr>
          </a:p>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smtClean="0">
                <a:solidFill>
                  <a:srgbClr val="FFFFFF"/>
                </a:solidFill>
                <a:latin typeface="Arial" charset="0"/>
              </a:rPr>
              <a:t>October 11, 2012</a:t>
            </a:r>
            <a:endParaRPr lang="en-GB" sz="1800" dirty="0">
              <a:solidFill>
                <a:srgbClr val="FFFFFF"/>
              </a:solidFill>
              <a:latin typeface="Arial" charset="0"/>
            </a:endParaRPr>
          </a:p>
        </p:txBody>
      </p:sp>
      <p:pic>
        <p:nvPicPr>
          <p:cNvPr id="3076" name="Picture 4"/>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Tree>
  </p:cSld>
  <p:clrMapOvr>
    <a:masterClrMapping/>
  </p:clrMapOvr>
  <p:transition spd="med"/>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4097" name="Text Box 1"/>
          <p:cNvSpPr txBox="1">
            <a:spLocks noChangeArrowheads="1"/>
          </p:cNvSpPr>
          <p:nvPr/>
        </p:nvSpPr>
        <p:spPr bwMode="auto">
          <a:xfrm>
            <a:off x="739775" y="787983"/>
            <a:ext cx="8604250" cy="417935"/>
          </a:xfrm>
          <a:prstGeom prst="rect">
            <a:avLst/>
          </a:prstGeom>
          <a:noFill/>
          <a:ln w="9525">
            <a:noFill/>
            <a:miter lim="800000"/>
            <a:headEnd/>
            <a:tailEnd/>
          </a:ln>
        </p:spPr>
        <p:txBody>
          <a:bodyPr lIns="0" tIns="0" rIns="0" bIns="0" anchor="ctr">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800" b="1" smtClean="0">
                <a:solidFill>
                  <a:srgbClr val="FFFFFF"/>
                </a:solidFill>
                <a:latin typeface="Arial" charset="0"/>
              </a:rPr>
              <a:t>Study Overview</a:t>
            </a:r>
            <a:endParaRPr lang="en-GB" sz="2800" b="1" dirty="0">
              <a:solidFill>
                <a:srgbClr val="FFFFFF"/>
              </a:solidFill>
              <a:latin typeface="Arial" charset="0"/>
            </a:endParaRPr>
          </a:p>
        </p:txBody>
      </p:sp>
      <p:sp>
        <p:nvSpPr>
          <p:cNvPr id="4098" name="Rectangle 2"/>
          <p:cNvSpPr>
            <a:spLocks noGrp="1" noChangeArrowheads="1"/>
          </p:cNvSpPr>
          <p:nvPr>
            <p:ph type="body"/>
          </p:nvPr>
        </p:nvSpPr>
        <p:spPr>
          <a:xfrm>
            <a:off x="739775" y="1549400"/>
            <a:ext cx="8607425" cy="5241925"/>
          </a:xfrm>
          <a:ln/>
        </p:spPr>
        <p:txBody>
          <a:bodyPr anchor="t"/>
          <a:lstStyle/>
          <a:p>
            <a:pPr marL="431800" indent="-323850" algn="l">
              <a:lnSpc>
                <a:spcPct val="92000"/>
              </a:lnSpc>
              <a:spcAft>
                <a:spcPts val="888"/>
              </a:spcAft>
              <a:buSzPct val="100000"/>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000" b="0" dirty="0" smtClean="0">
                <a:latin typeface="Arial" charset="0"/>
              </a:rPr>
              <a:t>In this randomized trial, normal-weight children received a daily sugar-free, artificially sweetened drink or a similar-tasting, sugar-containing drink.</a:t>
            </a:r>
            <a:endParaRPr lang="en-GB" sz="2000" b="0" dirty="0">
              <a:latin typeface="Arial" charset="0"/>
            </a:endParaRPr>
          </a:p>
          <a:p>
            <a:pPr marL="431800" indent="-323850" algn="l">
              <a:lnSpc>
                <a:spcPct val="92000"/>
              </a:lnSpc>
              <a:spcAft>
                <a:spcPts val="888"/>
              </a:spcAft>
              <a:buSzPct val="100000"/>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000" b="0" dirty="0" smtClean="0">
                <a:latin typeface="Arial" charset="0"/>
              </a:rPr>
              <a:t>The sugar-free group had less weight gain and fat accumulation over the 18-month study period.</a:t>
            </a:r>
            <a:endParaRPr lang="en-GB" sz="2000" b="0" dirty="0">
              <a:latin typeface="Arial" charset="0"/>
            </a:endParaRPr>
          </a:p>
        </p:txBody>
      </p:sp>
      <p:pic>
        <p:nvPicPr>
          <p:cNvPr id="4099" name="Picture 3"/>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Tree>
  </p:cSld>
  <p:clrMapOvr>
    <a:masterClrMapping/>
  </p:clrMapOvr>
  <p:transition spd="me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Screening, Randomization, and Follow-up of the Study Participants.</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2238766" y="6583363"/>
            <a:ext cx="5580868"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de Ruyter JC et al. N Engl J Med 2012;367:1397-1406</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2238766" y="1028700"/>
            <a:ext cx="5580868" cy="5486400"/>
          </a:xfrm>
          <a:prstGeom prst="rect">
            <a:avLst/>
          </a:prstGeom>
        </p:spPr>
      </p:pic>
    </p:spTree>
  </p:cSld>
  <p:clrMapOvr>
    <a:masterClrMapping/>
  </p:clrMapOvr>
  <p:transition spd="me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Urinary Sucralose Concentrations.</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1880056" y="6583363"/>
            <a:ext cx="6298289"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de Ruyter JC et al. N Engl J Med 2012;367:1397-1406</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1880056" y="1028700"/>
            <a:ext cx="6298289" cy="5486400"/>
          </a:xfrm>
          <a:prstGeom prst="rect">
            <a:avLst/>
          </a:prstGeom>
        </p:spPr>
      </p:pic>
    </p:spTree>
  </p:cSld>
  <p:clrMapOvr>
    <a:masterClrMapping/>
  </p:clrMapOvr>
  <p:transition spd="med"/>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Body-Mass Index (BMI) z Score in the 477 Children Who Drank the Study Beverages for the Full 18 Months.</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3367605" y="6583363"/>
            <a:ext cx="3323191"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de Ruyter JC et al. N Engl J Med 2012;367:1397-1406</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3367605" y="1028700"/>
            <a:ext cx="3323191" cy="5486400"/>
          </a:xfrm>
          <a:prstGeom prst="rect">
            <a:avLst/>
          </a:prstGeom>
        </p:spPr>
      </p:pic>
    </p:spTree>
  </p:cSld>
  <p:clrMapOvr>
    <a:masterClrMapping/>
  </p:clrMapOvr>
  <p:transition spd="med"/>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Baseline Characteristics of the Study Participants.</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2816652" y="6583363"/>
            <a:ext cx="4425096"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de Ruyter JC et al. N Engl J Med 2012;367:1397-1406</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2816652" y="1028700"/>
            <a:ext cx="4425096" cy="5486400"/>
          </a:xfrm>
          <a:prstGeom prst="rect">
            <a:avLst/>
          </a:prstGeom>
        </p:spPr>
      </p:pic>
    </p:spTree>
  </p:cSld>
  <p:clrMapOvr>
    <a:masterClrMapping/>
  </p:clrMapOvr>
  <p:transition spd="med"/>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Primary and Secondary Outcomes in the Full Cohort, with Imputed Data for Children Who Did Not Complete the Study, and in the Cohort of Children Who Completed the Study.</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1497919" y="6583363"/>
            <a:ext cx="7062562"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de Ruyter JC et al. N Engl J Med 2012;367:1397-1406</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1497919" y="1028700"/>
            <a:ext cx="7062562" cy="5486400"/>
          </a:xfrm>
          <a:prstGeom prst="rect">
            <a:avLst/>
          </a:prstGeom>
        </p:spPr>
      </p:pic>
    </p:spTree>
  </p:cSld>
  <p:clrMapOvr>
    <a:masterClrMapping/>
  </p:clrMapOvr>
  <p:transition spd="med"/>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10241" name="Text Box 1"/>
          <p:cNvSpPr txBox="1">
            <a:spLocks noChangeArrowheads="1"/>
          </p:cNvSpPr>
          <p:nvPr/>
        </p:nvSpPr>
        <p:spPr bwMode="auto">
          <a:xfrm>
            <a:off x="739775" y="787983"/>
            <a:ext cx="8604250" cy="417935"/>
          </a:xfrm>
          <a:prstGeom prst="rect">
            <a:avLst/>
          </a:prstGeom>
          <a:noFill/>
          <a:ln w="9525">
            <a:noFill/>
            <a:miter lim="800000"/>
            <a:headEnd/>
            <a:tailEnd/>
          </a:ln>
        </p:spPr>
        <p:txBody>
          <a:bodyPr lIns="0" tIns="0" rIns="0" bIns="0" anchor="ctr">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800" b="1" smtClean="0">
                <a:solidFill>
                  <a:srgbClr val="FFFFFF"/>
                </a:solidFill>
                <a:latin typeface="Arial" charset="0"/>
              </a:rPr>
              <a:t>Conclusions</a:t>
            </a:r>
            <a:endParaRPr lang="en-GB" sz="2800" b="1" dirty="0">
              <a:solidFill>
                <a:srgbClr val="FFFFFF"/>
              </a:solidFill>
              <a:latin typeface="Arial" charset="0"/>
            </a:endParaRPr>
          </a:p>
        </p:txBody>
      </p:sp>
      <p:sp>
        <p:nvSpPr>
          <p:cNvPr id="10242" name="Rectangle 2"/>
          <p:cNvSpPr>
            <a:spLocks noGrp="1" noChangeArrowheads="1"/>
          </p:cNvSpPr>
          <p:nvPr>
            <p:ph type="body"/>
          </p:nvPr>
        </p:nvSpPr>
        <p:spPr>
          <a:xfrm>
            <a:off x="739775" y="1549400"/>
            <a:ext cx="8607425" cy="5241925"/>
          </a:xfrm>
          <a:ln/>
        </p:spPr>
        <p:txBody>
          <a:bodyPr anchor="t"/>
          <a:lstStyle/>
          <a:p>
            <a:pPr marL="431800" indent="-323850" algn="l">
              <a:lnSpc>
                <a:spcPct val="92000"/>
              </a:lnSpc>
              <a:spcAft>
                <a:spcPts val="888"/>
              </a:spcAft>
              <a:buSzPct val="100000"/>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000" b="0" dirty="0" smtClean="0">
                <a:latin typeface="Arial" charset="0"/>
              </a:rPr>
              <a:t>Masked replacement of sugar-containing beverages with noncaloric beverages reduced weight gain and fat accumulation in normal-weight children.</a:t>
            </a:r>
            <a:endParaRPr lang="en-GB" sz="2000" b="0" dirty="0">
              <a:latin typeface="Arial" charset="0"/>
            </a:endParaRPr>
          </a:p>
        </p:txBody>
      </p:sp>
      <p:pic>
        <p:nvPicPr>
          <p:cNvPr id="10243" name="Picture 3"/>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Tree>
  </p:cSld>
  <p:clrMapOvr>
    <a:masterClrMapping/>
  </p:clrMapOvr>
  <p:transition spd="med"/>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Gothic"/>
        <a:cs typeface="Gothic"/>
      </a:majorFont>
      <a:minorFont>
        <a:latin typeface="Times New Roman"/>
        <a:ea typeface="Gothic"/>
        <a:cs typeface="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effectLst/>
            <a:latin typeface="Times New Roman" pitchFamily="16"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effectLst/>
            <a:latin typeface="Times New Roman" pitchFamily="16"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2820</TotalTime>
  <Words>7</Words>
  <Application>Microsoft Office PowerPoint</Application>
  <PresentationFormat>Custom</PresentationFormat>
  <Paragraphs>3</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Bob Starbird</dc:creator>
  <cp:lastModifiedBy>bstarbird</cp:lastModifiedBy>
  <cp:revision>15</cp:revision>
  <dcterms:modified xsi:type="dcterms:W3CDTF">2010-05-03T14:18:33Z</dcterms:modified>
</cp:coreProperties>
</file>